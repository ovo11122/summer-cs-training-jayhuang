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8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4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4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基于网络流量特征分类</a:t>
            </a:r>
            <a:r>
              <a:rPr lang="zh-CN" altLang="zh-CN"/>
              <a:t>项目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汇报人：</a:t>
            </a:r>
            <a:r>
              <a:rPr lang="zh-CN" altLang="en-US"/>
              <a:t>黄家诚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实验数据与</a:t>
            </a:r>
            <a:r>
              <a:rPr lang="zh-CN" altLang="en-US"/>
              <a:t>预处理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数据来源：</a:t>
            </a:r>
            <a:r>
              <a:rPr lang="en-US" altLang="zh-CN"/>
              <a:t>UNSW-NB15-</a:t>
            </a:r>
            <a:r>
              <a:rPr lang="en-US" altLang="zh-CN"/>
              <a:t>small</a:t>
            </a:r>
            <a:endParaRPr lang="en-US" altLang="zh-CN"/>
          </a:p>
          <a:p>
            <a:r>
              <a:rPr lang="zh-CN" altLang="en-US"/>
              <a:t>样本数量：</a:t>
            </a:r>
            <a:r>
              <a:rPr lang="en-US" altLang="zh-CN"/>
              <a:t>10000</a:t>
            </a:r>
            <a:r>
              <a:rPr lang="zh-CN" altLang="en-US"/>
              <a:t>条</a:t>
            </a:r>
            <a:endParaRPr lang="zh-CN" altLang="en-US"/>
          </a:p>
          <a:p>
            <a:r>
              <a:rPr lang="zh-CN" altLang="en-US"/>
              <a:t>特征：</a:t>
            </a:r>
            <a:r>
              <a:rPr lang="en-US" altLang="zh-CN"/>
              <a:t>22</a:t>
            </a:r>
            <a:r>
              <a:rPr lang="zh-CN" altLang="en-US"/>
              <a:t>个数据特征，包括</a:t>
            </a:r>
            <a:r>
              <a:rPr lang="en-US" altLang="zh-CN"/>
              <a:t>'dur', 'spkts', 'dpkts', 'sbytes', 'dbytes', 'rate', 'sttl', 'dttl','sload', 'dload', 'sloss', 'dloss', 'sinpkt', 'dinpkt', 'sjit', 'djit','smean', 'dmean', 'ct_srv_src', 'ct_dst_ltm', 'ct_src_ltm',</a:t>
            </a:r>
            <a:endParaRPr lang="en-US" altLang="zh-CN"/>
          </a:p>
          <a:p>
            <a:r>
              <a:rPr lang="en-US" altLang="zh-CN"/>
              <a:t>       'ct_srv_dst'</a:t>
            </a:r>
            <a:r>
              <a:rPr lang="zh-CN" altLang="en-US"/>
              <a:t>与标签</a:t>
            </a:r>
            <a:r>
              <a:rPr lang="en-US" altLang="zh-CN"/>
              <a:t>'label'</a:t>
            </a:r>
            <a:endParaRPr lang="en-US" altLang="zh-CN"/>
          </a:p>
          <a:p>
            <a:r>
              <a:rPr lang="zh-CN" altLang="en-US"/>
              <a:t>预处理：原始数据</a:t>
            </a:r>
            <a:r>
              <a:rPr lang="en-US" altLang="zh-CN"/>
              <a:t>unsw_nb15_small-&gt;</a:t>
            </a:r>
            <a:r>
              <a:rPr lang="zh-CN" altLang="en-US"/>
              <a:t>去无穷值，缺失值，重复值</a:t>
            </a:r>
            <a:r>
              <a:rPr lang="en-US" altLang="zh-CN"/>
              <a:t>-&gt;</a:t>
            </a:r>
            <a:r>
              <a:rPr lang="zh-CN" altLang="en-US"/>
              <a:t>划分数据集</a:t>
            </a:r>
            <a:r>
              <a:rPr lang="en-US" altLang="zh-CN"/>
              <a:t>train_test_split-&gt;</a:t>
            </a:r>
            <a:r>
              <a:rPr lang="zh-CN" altLang="en-US"/>
              <a:t>标准化</a:t>
            </a:r>
            <a:r>
              <a:rPr lang="en-US" altLang="zh-CN"/>
              <a:t>StandardScaler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665" y="5337175"/>
            <a:ext cx="3835400" cy="10039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325" y="4612640"/>
            <a:ext cx="3007995" cy="17646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05" y="5176520"/>
            <a:ext cx="3985260" cy="11645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</a:t>
            </a: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pPr marL="0" indent="0">
              <a:buNone/>
            </a:pP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</a:t>
            </a:r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：</a:t>
            </a: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22</a:t>
            </a:r>
            <a:endParaRPr lang="en-US" altLang="zh-CN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Linear             LeakyReLU:16</a:t>
            </a:r>
            <a:endParaRPr lang="en-US" altLang="zh-CN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Linear             </a:t>
            </a:r>
            <a:r>
              <a:rPr lang="en-US" altLang="zh-CN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LeakyReLU:8</a:t>
            </a:r>
            <a:endParaRPr lang="en-US" altLang="zh-CN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endParaRPr lang="en-US" altLang="zh-CN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Linear:1            </a:t>
            </a:r>
            <a:r>
              <a:rPr lang="en-US" altLang="zh-CN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Logits</a:t>
            </a:r>
            <a:endParaRPr lang="en-US" altLang="zh-CN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1240790" y="2009140"/>
            <a:ext cx="0" cy="342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669415" y="2724785"/>
            <a:ext cx="6724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240790" y="2945130"/>
            <a:ext cx="0" cy="3790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1240790" y="4032250"/>
            <a:ext cx="0" cy="3790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1669415" y="3665855"/>
            <a:ext cx="6724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870075" y="4643755"/>
            <a:ext cx="6724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1858010"/>
            <a:ext cx="3572510" cy="26435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训练过程与结果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MLP</a:t>
            </a:r>
            <a:r>
              <a:rPr lang="zh-CN" altLang="en-US"/>
              <a:t>结果（取</a:t>
            </a:r>
            <a:r>
              <a:rPr lang="en-US" altLang="zh-CN"/>
              <a:t>3</a:t>
            </a:r>
            <a:r>
              <a:rPr lang="zh-CN" altLang="en-US"/>
              <a:t>次</a:t>
            </a:r>
            <a:r>
              <a:rPr lang="zh-CN" altLang="en-US"/>
              <a:t>平均）</a:t>
            </a:r>
            <a:endParaRPr lang="zh-CN" altLang="en-US"/>
          </a:p>
          <a:p>
            <a:r>
              <a:rPr lang="en-US" altLang="zh-CN"/>
              <a:t>Accuracy</a:t>
            </a:r>
            <a:r>
              <a:rPr lang="zh-CN" altLang="en-US"/>
              <a:t>：</a:t>
            </a:r>
            <a:r>
              <a:rPr lang="en-US" altLang="zh-CN"/>
              <a:t>0.9104</a:t>
            </a:r>
            <a:endParaRPr lang="zh-CN" altLang="en-US"/>
          </a:p>
          <a:p>
            <a:r>
              <a:rPr lang="en-US" altLang="zh-CN"/>
              <a:t>Precision</a:t>
            </a:r>
            <a:r>
              <a:rPr lang="zh-CN" altLang="en-US"/>
              <a:t>：</a:t>
            </a:r>
            <a:r>
              <a:rPr lang="en-US" altLang="zh-CN"/>
              <a:t>0.8817</a:t>
            </a:r>
            <a:endParaRPr lang="zh-CN" altLang="en-US"/>
          </a:p>
          <a:p>
            <a:r>
              <a:rPr lang="en-US" altLang="zh-CN"/>
              <a:t>Recall</a:t>
            </a:r>
            <a:r>
              <a:rPr lang="zh-CN" altLang="en-US"/>
              <a:t>：</a:t>
            </a:r>
            <a:r>
              <a:rPr lang="en-US" altLang="zh-CN"/>
              <a:t>0.9481</a:t>
            </a:r>
            <a:endParaRPr lang="zh-CN" altLang="en-US"/>
          </a:p>
          <a:p>
            <a:r>
              <a:rPr lang="en-US" altLang="zh-CN"/>
              <a:t>F1</a:t>
            </a:r>
            <a:r>
              <a:rPr lang="zh-CN" altLang="en-US"/>
              <a:t>：</a:t>
            </a:r>
            <a:r>
              <a:rPr lang="en-US" altLang="zh-CN"/>
              <a:t>0.9136</a:t>
            </a:r>
            <a:endParaRPr lang="en-US" altLang="zh-CN"/>
          </a:p>
          <a:p>
            <a:r>
              <a:rPr lang="en-US" altLang="zh-CN"/>
              <a:t>Confusion Matrix(</a:t>
            </a:r>
            <a:r>
              <a:rPr lang="zh-CN" altLang="en-US"/>
              <a:t>单次</a:t>
            </a:r>
            <a:r>
              <a:rPr lang="en-US" altLang="zh-CN"/>
              <a:t>):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MLP</a:t>
            </a:r>
            <a:r>
              <a:rPr lang="zh-CN" altLang="en-US"/>
              <a:t>与逻辑回归数据</a:t>
            </a:r>
            <a:r>
              <a:rPr lang="zh-CN" altLang="en-US"/>
              <a:t>对比：</a:t>
            </a:r>
            <a:endParaRPr lang="zh-CN" altLang="en-US"/>
          </a:p>
        </p:txBody>
      </p:sp>
      <p:pic>
        <p:nvPicPr>
          <p:cNvPr id="4" name="图片 3" descr="loss_cur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085" y="1490345"/>
            <a:ext cx="4279900" cy="3209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820" y="4030345"/>
            <a:ext cx="1552575" cy="7905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7975" y="4942840"/>
            <a:ext cx="4714875" cy="12192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总结与</a:t>
            </a:r>
            <a:r>
              <a:rPr lang="zh-CN" altLang="en-US"/>
              <a:t>未来改进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构建了完整的数据处理与训练</a:t>
            </a:r>
            <a:r>
              <a:rPr lang="zh-CN" altLang="en-US"/>
              <a:t>模型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得到</a:t>
            </a:r>
            <a:r>
              <a:rPr lang="en-US" altLang="zh-CN"/>
              <a:t>MLP</a:t>
            </a:r>
            <a:r>
              <a:rPr lang="zh-CN" altLang="en-US"/>
              <a:t>在该数据</a:t>
            </a:r>
            <a:r>
              <a:rPr lang="en-US" altLang="zh-CN"/>
              <a:t>UNSW-NB15-small</a:t>
            </a:r>
            <a:r>
              <a:rPr lang="zh-CN" altLang="en-US"/>
              <a:t>的情况下优于逻辑</a:t>
            </a:r>
            <a:r>
              <a:rPr lang="zh-CN" altLang="en-US"/>
              <a:t>回归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但是该数据的类别还是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1</a:t>
            </a:r>
            <a:r>
              <a:rPr lang="zh-CN" altLang="en-US"/>
              <a:t>，真实情况则是正常远多于</a:t>
            </a:r>
            <a:r>
              <a:rPr lang="zh-CN" altLang="en-US"/>
              <a:t>攻击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可以改变多层感知机的结构，隐藏层的神经元数量和激活</a:t>
            </a:r>
            <a:r>
              <a:rPr lang="zh-CN" altLang="en-US"/>
              <a:t>函数</a:t>
            </a:r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可尝试其他的</a:t>
            </a:r>
            <a:r>
              <a:rPr lang="zh-CN" altLang="en-US"/>
              <a:t>模型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</Words>
  <Application>WPS 演示</Application>
  <PresentationFormat>宽屏</PresentationFormat>
  <Paragraphs>42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～</cp:lastModifiedBy>
  <cp:revision>157</cp:revision>
  <dcterms:created xsi:type="dcterms:W3CDTF">2019-06-19T02:08:00Z</dcterms:created>
  <dcterms:modified xsi:type="dcterms:W3CDTF">2026-08-22T13:55:36Z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6DD14989B0D3452BB9F8AC8A9F11FDDF_11</vt:lpwstr>
  </property>
</Properties>
</file>